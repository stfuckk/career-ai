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6" r:id="rId3"/>
    <p:sldId id="277" r:id="rId4"/>
    <p:sldId id="271" r:id="rId5"/>
    <p:sldId id="275" r:id="rId6"/>
    <p:sldId id="260" r:id="rId7"/>
    <p:sldId id="265" r:id="rId8"/>
    <p:sldId id="267" r:id="rId9"/>
    <p:sldId id="273" r:id="rId10"/>
    <p:sldId id="272" r:id="rId11"/>
    <p:sldId id="261" r:id="rId12"/>
    <p:sldId id="274" r:id="rId13"/>
    <p:sldId id="266" r:id="rId14"/>
    <p:sldId id="262" r:id="rId15"/>
    <p:sldId id="264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3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7BB96-41F9-3525-CF59-D0A07659C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2FE21D-A239-EDEC-2CFC-98F594A0A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102CE0-AC6A-B17F-A2BB-4549AAB0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972974-B6BF-3C39-6B2C-A9CA14D1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E9F6CF-9FC9-8BFA-69F3-0A8169FE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896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366F9-0A18-D80E-9750-7824FA5A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0A90BD-9420-65B7-AFB5-9499A9E9E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A746BF-575C-4AC1-7A91-BD6665EF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AF1939-3A37-DBE4-F7CB-1C41F7121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E0C337-E645-7B78-473C-1643755C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550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30EEE-EF59-DC9F-7970-293D4F42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14AEC0-381B-8700-94E9-1B31F6565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77D553-B558-DA2F-DF71-03CFDF45E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9C4E90-278D-DE1C-B701-227D4D8AB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0711E8-0D97-DDDA-2B10-1856FB82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728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DD461-5E87-275A-F4F0-AD90051E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7E0FD7-7FF8-8644-F431-8D422980B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873BEA-7912-C45B-46F6-2BD2D1970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BEBABF-51B1-AB93-233C-1320DC28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C6DBA7-67B1-7D27-D64E-1DF0D8C0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D58181-8791-C073-0C0A-990E0CE9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91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380E6-0526-0F4B-F828-529EC013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AA1928-635E-25F7-7701-08DDB36C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5007D7-35E2-01BA-7796-91525105E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D0B4E0-F521-B233-82FF-C8EC0FC397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12E499-6053-61E7-FAAB-5F09E9E60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B232EB-824F-73BA-2CC6-1D6FC6D4F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A0CDCEB-DAAF-4327-2D92-924C7D4F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469E53-3FF6-95DB-4232-D7A069D2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97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2953F-BD6E-3E75-3C50-06E40BF3A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85658EA-2D97-0D66-00FA-3A5B0C02E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A91F27-8E0A-0E61-E2B2-9B80D8C92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0EC77E-D204-D196-A2B3-FCFB50559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52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1523CD-40BD-0067-B927-8F7EFF94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9088647-CCA4-941C-105D-0F27E42A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9DC129-1C63-A67E-9641-79162E8F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880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CDFE8-0CDB-0F64-8ACE-885F3C2AD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125374-F6D7-7550-9552-D5ADCB28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EBC7B6-A16E-766A-8363-8804923F0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FD0655-3622-AE6C-945E-F0F310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888D87-5F86-DC8D-4DB2-73CAE0FEB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E5E17A-706F-ED2A-E15F-4EC35BE8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0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33D0B-E2D9-6954-DABB-439AD52E7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CA3DF09-367F-6E88-8266-270401F9B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1E978C-30B4-B087-C3C2-F902C92FA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C51928-8D03-27D9-6531-C8D589368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82264F-AD0F-EE24-84E7-8504AAAA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5C6E7E-7B4F-5C14-D062-203D1909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851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DC3E0A-4880-8EB8-D9D9-792A9624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6997AC-A3C0-A0CE-E7C9-638244E72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C67F59-E510-3D6E-A965-F4032013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476A5F-8946-0D48-902B-65432F01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559045-AC24-2383-E53C-62658C06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54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22A22FC-A60B-876E-828F-0165DF788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B5595F-9824-D495-5CF4-18E2151A5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DAD6D1-4A58-A627-B4C0-FC7F1BCC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180501-FD89-22DC-45B0-9BD04DED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3AFE46-4796-A147-9DAD-51D1FA74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67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03938-C0CC-CF9E-7214-1E72511CB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CC8531-36A3-F5D9-DF1B-992AD61A8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8E36D-3A38-4967-3DEA-55D8D7663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47C46-0DC7-4B12-B038-4B397BE4F56F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0B5A8D-B759-1AD1-AD14-CB65D9979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3C8139-C06D-CD2C-D37B-1D44C7F1C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BBB16-0002-4020-BB6C-E7987FD7B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00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2D823A-4763-70CF-822C-1E04D51D0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00DB3B-5DF9-E3C0-F0D2-CA6EE4AAB8A6}"/>
              </a:ext>
            </a:extLst>
          </p:cNvPr>
          <p:cNvSpPr txBox="1"/>
          <p:nvPr/>
        </p:nvSpPr>
        <p:spPr>
          <a:xfrm>
            <a:off x="1394460" y="2231136"/>
            <a:ext cx="63002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Карьерный </a:t>
            </a:r>
            <a:r>
              <a:rPr lang="en-US" sz="44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AI</a:t>
            </a:r>
            <a:r>
              <a:rPr lang="ru-RU" sz="44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-агент «</a:t>
            </a:r>
            <a:r>
              <a:rPr lang="ru-RU" sz="4400" dirty="0" err="1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ПрофАпдейт</a:t>
            </a:r>
            <a:r>
              <a:rPr lang="ru-RU" sz="44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3CA4B-904F-DB34-2C4A-238DC3FDA857}"/>
              </a:ext>
            </a:extLst>
          </p:cNvPr>
          <p:cNvSpPr txBox="1"/>
          <p:nvPr/>
        </p:nvSpPr>
        <p:spPr>
          <a:xfrm>
            <a:off x="1394460" y="4114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Команда </a:t>
            </a:r>
            <a:r>
              <a:rPr lang="ru-RU" dirty="0" err="1">
                <a:solidFill>
                  <a:schemeClr val="bg1"/>
                </a:solidFill>
                <a:latin typeface="Gerbera Medium" panose="02000600000000000000" pitchFamily="50" charset="-52"/>
              </a:rPr>
              <a:t>войтивайти</a:t>
            </a:r>
            <a:endParaRPr lang="ru-RU" dirty="0">
              <a:solidFill>
                <a:schemeClr val="bg1"/>
              </a:solidFill>
              <a:latin typeface="Gerbera Medium" panose="020006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57226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4067D-A360-F1CE-8060-2A2B87AD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8FB125-2F7B-233B-09D6-699CDCD08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77A855-B9CC-4A68-8DC1-F71D0FD2C6F0}"/>
              </a:ext>
            </a:extLst>
          </p:cNvPr>
          <p:cNvSpPr txBox="1"/>
          <p:nvPr/>
        </p:nvSpPr>
        <p:spPr>
          <a:xfrm>
            <a:off x="2844545" y="418681"/>
            <a:ext cx="6300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Пользователь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4495C-0CA5-083D-DAB6-C1925A1066D7}"/>
              </a:ext>
            </a:extLst>
          </p:cNvPr>
          <p:cNvSpPr txBox="1"/>
          <p:nvPr/>
        </p:nvSpPr>
        <p:spPr>
          <a:xfrm>
            <a:off x="7504941" y="2668668"/>
            <a:ext cx="302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Видит только топ-вузы за пределами региона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E24084-3E96-16A5-B5BC-9E3DE1BFB3B6}"/>
              </a:ext>
            </a:extLst>
          </p:cNvPr>
          <p:cNvSpPr txBox="1"/>
          <p:nvPr/>
        </p:nvSpPr>
        <p:spPr>
          <a:xfrm>
            <a:off x="4480560" y="1188122"/>
            <a:ext cx="302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dirty="0">
              <a:solidFill>
                <a:schemeClr val="bg1"/>
              </a:solidFill>
              <a:latin typeface="Gerbera Medium" panose="02000600000000000000" pitchFamily="5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CFBCDA-1F69-B921-7983-46BC540537BF}"/>
              </a:ext>
            </a:extLst>
          </p:cNvPr>
          <p:cNvSpPr txBox="1"/>
          <p:nvPr/>
        </p:nvSpPr>
        <p:spPr>
          <a:xfrm>
            <a:off x="887729" y="1919693"/>
            <a:ext cx="3403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Не понимает куда идти учится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765C5-2137-1F31-B8C1-095354F61606}"/>
              </a:ext>
            </a:extLst>
          </p:cNvPr>
          <p:cNvSpPr txBox="1"/>
          <p:nvPr/>
        </p:nvSpPr>
        <p:spPr>
          <a:xfrm>
            <a:off x="2054734" y="4643352"/>
            <a:ext cx="3028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Не до конца понимает свой карьерный путь даже обучаясь в вузе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85902-5AB1-086E-721C-5F6CE0838A96}"/>
              </a:ext>
            </a:extLst>
          </p:cNvPr>
          <p:cNvSpPr txBox="1"/>
          <p:nvPr/>
        </p:nvSpPr>
        <p:spPr>
          <a:xfrm>
            <a:off x="4736592" y="2151706"/>
            <a:ext cx="2322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Тут должен быть человечек возле которого характеристики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053F0C-F0D2-A9DC-2732-D008DA23456A}"/>
              </a:ext>
            </a:extLst>
          </p:cNvPr>
          <p:cNvSpPr txBox="1"/>
          <p:nvPr/>
        </p:nvSpPr>
        <p:spPr>
          <a:xfrm>
            <a:off x="6259070" y="4159795"/>
            <a:ext cx="3403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Ищет работу без личной стратегии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5A0112-0187-7D6C-8FD2-910C73D6C9DB}"/>
              </a:ext>
            </a:extLst>
          </p:cNvPr>
          <p:cNvSpPr txBox="1"/>
          <p:nvPr/>
        </p:nvSpPr>
        <p:spPr>
          <a:xfrm>
            <a:off x="5082920" y="3443695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16-22</a:t>
            </a:r>
          </a:p>
        </p:txBody>
      </p:sp>
    </p:spTree>
    <p:extLst>
      <p:ext uri="{BB962C8B-B14F-4D97-AF65-F5344CB8AC3E}">
        <p14:creationId xmlns:p14="http://schemas.microsoft.com/office/powerpoint/2010/main" val="236779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60E06-0E0D-2B8C-4D5E-7467843B0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B6B133-C7BF-4203-2AD7-1AEB85D01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87E80B-015C-86AE-1B1E-3D2C06D24EB2}"/>
              </a:ext>
            </a:extLst>
          </p:cNvPr>
          <p:cNvSpPr txBox="1"/>
          <p:nvPr/>
        </p:nvSpPr>
        <p:spPr>
          <a:xfrm>
            <a:off x="2844545" y="2540089"/>
            <a:ext cx="63002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Нужно помочь и направить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97461-406D-B3F4-82C7-2BE084D675F1}"/>
              </a:ext>
            </a:extLst>
          </p:cNvPr>
          <p:cNvSpPr txBox="1"/>
          <p:nvPr/>
        </p:nvSpPr>
        <p:spPr>
          <a:xfrm>
            <a:off x="4480560" y="1188122"/>
            <a:ext cx="302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dirty="0">
              <a:solidFill>
                <a:schemeClr val="bg1"/>
              </a:solidFill>
              <a:latin typeface="Gerbera Medium" panose="020006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503428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E2210-892E-2C25-D875-094936D97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A4C8C0-95ED-D504-5E01-273EB1209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ABAE53-BD2A-7845-859F-4309CF529771}"/>
              </a:ext>
            </a:extLst>
          </p:cNvPr>
          <p:cNvSpPr txBox="1"/>
          <p:nvPr/>
        </p:nvSpPr>
        <p:spPr>
          <a:xfrm>
            <a:off x="3026664" y="3044279"/>
            <a:ext cx="6300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Веб-приложение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7733D-0EA1-665F-23E4-1A55211AEE57}"/>
              </a:ext>
            </a:extLst>
          </p:cNvPr>
          <p:cNvSpPr txBox="1"/>
          <p:nvPr/>
        </p:nvSpPr>
        <p:spPr>
          <a:xfrm>
            <a:off x="2183894" y="3950865"/>
            <a:ext cx="302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Проще настроить аналитику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9221B-54C5-5688-4904-410725FB27D9}"/>
              </a:ext>
            </a:extLst>
          </p:cNvPr>
          <p:cNvSpPr txBox="1"/>
          <p:nvPr/>
        </p:nvSpPr>
        <p:spPr>
          <a:xfrm>
            <a:off x="4480560" y="1188122"/>
            <a:ext cx="302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Не требует установки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B6622-9D45-7264-E39D-13A106EC1BCE}"/>
              </a:ext>
            </a:extLst>
          </p:cNvPr>
          <p:cNvSpPr txBox="1"/>
          <p:nvPr/>
        </p:nvSpPr>
        <p:spPr>
          <a:xfrm>
            <a:off x="4963222" y="4246296"/>
            <a:ext cx="302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Высокая интерактивность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E8268-C257-C96A-ABA8-D4AF2DC2A815}"/>
              </a:ext>
            </a:extLst>
          </p:cNvPr>
          <p:cNvSpPr txBox="1"/>
          <p:nvPr/>
        </p:nvSpPr>
        <p:spPr>
          <a:xfrm>
            <a:off x="1452374" y="1940738"/>
            <a:ext cx="302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Постоянный доступ без замедлений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A90130-DF8B-A3F2-38E2-E13F14A70BA9}"/>
              </a:ext>
            </a:extLst>
          </p:cNvPr>
          <p:cNvSpPr txBox="1"/>
          <p:nvPr/>
        </p:nvSpPr>
        <p:spPr>
          <a:xfrm>
            <a:off x="8670343" y="2341815"/>
            <a:ext cx="302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Возможно найти в поиске Яндекса</a:t>
            </a:r>
          </a:p>
        </p:txBody>
      </p:sp>
    </p:spTree>
    <p:extLst>
      <p:ext uri="{BB962C8B-B14F-4D97-AF65-F5344CB8AC3E}">
        <p14:creationId xmlns:p14="http://schemas.microsoft.com/office/powerpoint/2010/main" val="341534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8E942-6525-8017-656A-13BEE311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EFA380-CBF6-F940-9A64-D02A8393E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C39F60-B65E-D0B8-36D0-2D9A98A14A34}"/>
              </a:ext>
            </a:extLst>
          </p:cNvPr>
          <p:cNvSpPr txBox="1"/>
          <p:nvPr/>
        </p:nvSpPr>
        <p:spPr>
          <a:xfrm>
            <a:off x="2844545" y="3013999"/>
            <a:ext cx="6300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Стек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199CB1-A285-D3D4-AFFB-9F5DA8ECE7BE}"/>
              </a:ext>
            </a:extLst>
          </p:cNvPr>
          <p:cNvSpPr txBox="1"/>
          <p:nvPr/>
        </p:nvSpPr>
        <p:spPr>
          <a:xfrm>
            <a:off x="4233672" y="4897371"/>
            <a:ext cx="30281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erbera Medium" panose="02000600000000000000" pitchFamily="50" charset="-52"/>
              </a:rPr>
              <a:t>Backend: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Gerbera Medium" panose="02000600000000000000" pitchFamily="50" charset="-52"/>
              </a:rPr>
              <a:t>Python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  <a:latin typeface="Gerbera Medium" panose="02000600000000000000" pitchFamily="50" charset="-52"/>
              </a:rPr>
              <a:t>FastAPI</a:t>
            </a:r>
            <a:br>
              <a:rPr lang="en-US" dirty="0">
                <a:solidFill>
                  <a:schemeClr val="bg1"/>
                </a:solidFill>
                <a:latin typeface="Gerbera Medium" panose="02000600000000000000" pitchFamily="50" charset="-52"/>
              </a:rPr>
            </a:br>
            <a:r>
              <a:rPr lang="en-US" dirty="0">
                <a:solidFill>
                  <a:schemeClr val="bg1"/>
                </a:solidFill>
                <a:latin typeface="Gerbera Medium" panose="02000600000000000000" pitchFamily="50" charset="-52"/>
              </a:rPr>
              <a:t>PostgreSQL</a:t>
            </a:r>
            <a:endParaRPr lang="ru-RU" dirty="0">
              <a:solidFill>
                <a:schemeClr val="bg1"/>
              </a:solidFill>
              <a:latin typeface="Gerbera Medium" panose="02000600000000000000" pitchFamily="5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8E04EC-CA7A-40BD-D9B2-E9B658E2EE90}"/>
              </a:ext>
            </a:extLst>
          </p:cNvPr>
          <p:cNvSpPr txBox="1"/>
          <p:nvPr/>
        </p:nvSpPr>
        <p:spPr>
          <a:xfrm>
            <a:off x="4480560" y="1188122"/>
            <a:ext cx="302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dirty="0">
              <a:solidFill>
                <a:schemeClr val="bg1"/>
              </a:solidFill>
              <a:latin typeface="Gerbera Medium" panose="02000600000000000000" pitchFamily="5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6A04C-C5FD-F27C-3352-745D89D667D0}"/>
              </a:ext>
            </a:extLst>
          </p:cNvPr>
          <p:cNvSpPr txBox="1"/>
          <p:nvPr/>
        </p:nvSpPr>
        <p:spPr>
          <a:xfrm>
            <a:off x="3886961" y="1256704"/>
            <a:ext cx="3403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erbera Medium" panose="02000600000000000000" pitchFamily="50" charset="-52"/>
              </a:rPr>
              <a:t>Frontend:</a:t>
            </a:r>
            <a:br>
              <a:rPr lang="en-US" dirty="0">
                <a:solidFill>
                  <a:schemeClr val="bg1"/>
                </a:solidFill>
                <a:latin typeface="Gerbera Medium" panose="02000600000000000000" pitchFamily="50" charset="-52"/>
              </a:rPr>
            </a:br>
            <a:r>
              <a:rPr lang="en-US" dirty="0">
                <a:solidFill>
                  <a:schemeClr val="bg1"/>
                </a:solidFill>
                <a:latin typeface="Gerbera Medium" panose="02000600000000000000" pitchFamily="50" charset="-52"/>
              </a:rPr>
              <a:t>Vite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Gerbera Medium" panose="02000600000000000000" pitchFamily="50" charset="-52"/>
              </a:rPr>
              <a:t>Vue3.js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  <a:latin typeface="Gerbera Medium" panose="02000600000000000000" pitchFamily="50" charset="-52"/>
              </a:rPr>
              <a:t>tailwindcss</a:t>
            </a:r>
            <a:endParaRPr lang="ru-RU" dirty="0">
              <a:solidFill>
                <a:schemeClr val="bg1"/>
              </a:solidFill>
              <a:latin typeface="Gerbera Medium" panose="020006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7363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417BDD-BC1D-B6C2-53C0-03070EA6B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C99D5A-1877-9090-9936-EA94B5DB4AB8}"/>
              </a:ext>
            </a:extLst>
          </p:cNvPr>
          <p:cNvSpPr txBox="1"/>
          <p:nvPr/>
        </p:nvSpPr>
        <p:spPr>
          <a:xfrm>
            <a:off x="2019490" y="363527"/>
            <a:ext cx="8153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Трёхступенчатый </a:t>
            </a:r>
            <a:r>
              <a:rPr lang="en-US" sz="36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AI-</a:t>
            </a:r>
            <a:r>
              <a:rPr lang="ru-RU" sz="36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конвейер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58096-394A-9C23-245D-FEAF6F4FCB54}"/>
              </a:ext>
            </a:extLst>
          </p:cNvPr>
          <p:cNvSpPr txBox="1"/>
          <p:nvPr/>
        </p:nvSpPr>
        <p:spPr>
          <a:xfrm>
            <a:off x="1790700" y="2921388"/>
            <a:ext cx="2727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ШАГ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75001-65F6-0935-6A10-4BCDFA4B7B19}"/>
              </a:ext>
            </a:extLst>
          </p:cNvPr>
          <p:cNvSpPr txBox="1"/>
          <p:nvPr/>
        </p:nvSpPr>
        <p:spPr>
          <a:xfrm>
            <a:off x="7246620" y="2398168"/>
            <a:ext cx="2624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Психометрия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5BC29-AF42-B01B-3D6F-590246C6A05E}"/>
              </a:ext>
            </a:extLst>
          </p:cNvPr>
          <p:cNvSpPr txBox="1"/>
          <p:nvPr/>
        </p:nvSpPr>
        <p:spPr>
          <a:xfrm>
            <a:off x="5907024" y="3118321"/>
            <a:ext cx="19751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Научно доказанный тест 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по методике </a:t>
            </a:r>
          </a:p>
          <a:p>
            <a:pPr algn="ctr"/>
            <a:r>
              <a:rPr lang="ru-RU" sz="2000" dirty="0" err="1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Йовайши-Резапкиной</a:t>
            </a:r>
            <a:endParaRPr lang="ru-RU" sz="2000" dirty="0">
              <a:solidFill>
                <a:schemeClr val="bg1"/>
              </a:solidFill>
              <a:latin typeface="Gerbera Medium" panose="02000600000000000000" pitchFamily="50" charset="-52"/>
              <a:ea typeface="Inter Extra Bold" panose="02000903000000020004" pitchFamily="50" charset="0"/>
              <a:cs typeface="Inter Extra Bold" panose="02000903000000020004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28BEA-5A9E-52E0-CAF3-70C4458378D8}"/>
              </a:ext>
            </a:extLst>
          </p:cNvPr>
          <p:cNvSpPr txBox="1"/>
          <p:nvPr/>
        </p:nvSpPr>
        <p:spPr>
          <a:xfrm>
            <a:off x="9270492" y="3401568"/>
            <a:ext cx="19751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Понятное для человека описание результатов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E7719680-E422-EFD7-7378-A49B7ABB07D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010144" y="4063287"/>
            <a:ext cx="1260348" cy="1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0FD3DF-5CD4-D21F-0E20-8294ACFC565D}"/>
              </a:ext>
            </a:extLst>
          </p:cNvPr>
          <p:cNvSpPr txBox="1"/>
          <p:nvPr/>
        </p:nvSpPr>
        <p:spPr>
          <a:xfrm>
            <a:off x="7864602" y="3351838"/>
            <a:ext cx="138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Gerbera Light" panose="02000300000000000000" pitchFamily="50" charset="-52"/>
              </a:rPr>
              <a:t>Результаты теста</a:t>
            </a:r>
          </a:p>
        </p:txBody>
      </p:sp>
    </p:spTree>
    <p:extLst>
      <p:ext uri="{BB962C8B-B14F-4D97-AF65-F5344CB8AC3E}">
        <p14:creationId xmlns:p14="http://schemas.microsoft.com/office/powerpoint/2010/main" val="2433388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7ED6E-4856-124D-3622-0FE805299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1F52FB-4E04-AB66-3D10-026B1610A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1E716A-7075-0F3D-621F-8D90AF874334}"/>
              </a:ext>
            </a:extLst>
          </p:cNvPr>
          <p:cNvSpPr txBox="1"/>
          <p:nvPr/>
        </p:nvSpPr>
        <p:spPr>
          <a:xfrm>
            <a:off x="2019490" y="363527"/>
            <a:ext cx="8153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Трёхступенчатый </a:t>
            </a:r>
            <a:r>
              <a:rPr lang="en-US" sz="36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AI-</a:t>
            </a:r>
            <a:r>
              <a:rPr lang="ru-RU" sz="36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конвейер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0010D-333D-7BF7-C7C5-1C503C8E25CF}"/>
              </a:ext>
            </a:extLst>
          </p:cNvPr>
          <p:cNvSpPr txBox="1"/>
          <p:nvPr/>
        </p:nvSpPr>
        <p:spPr>
          <a:xfrm>
            <a:off x="1790700" y="2921388"/>
            <a:ext cx="2727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ШАГ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F5111-B245-BFD1-262E-5818072BE06C}"/>
              </a:ext>
            </a:extLst>
          </p:cNvPr>
          <p:cNvSpPr txBox="1"/>
          <p:nvPr/>
        </p:nvSpPr>
        <p:spPr>
          <a:xfrm>
            <a:off x="6309360" y="2319877"/>
            <a:ext cx="47960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Обогащение данными пользователя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97AB95-7A63-D992-1710-62D7A01D6859}"/>
              </a:ext>
            </a:extLst>
          </p:cNvPr>
          <p:cNvSpPr txBox="1"/>
          <p:nvPr/>
        </p:nvSpPr>
        <p:spPr>
          <a:xfrm>
            <a:off x="6309360" y="3518430"/>
            <a:ext cx="4681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Возраст, пол, уровень образования</a:t>
            </a:r>
          </a:p>
        </p:txBody>
      </p:sp>
    </p:spTree>
    <p:extLst>
      <p:ext uri="{BB962C8B-B14F-4D97-AF65-F5344CB8AC3E}">
        <p14:creationId xmlns:p14="http://schemas.microsoft.com/office/powerpoint/2010/main" val="3944028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B8B67-5B48-F01E-26FD-7EA5F4543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53620F-ED84-5E7B-CEBE-2E574792E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C26533-B7B2-95F6-5FD5-C103B4BB71E0}"/>
              </a:ext>
            </a:extLst>
          </p:cNvPr>
          <p:cNvSpPr txBox="1"/>
          <p:nvPr/>
        </p:nvSpPr>
        <p:spPr>
          <a:xfrm>
            <a:off x="2019490" y="363527"/>
            <a:ext cx="8153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Трёхступенчатый </a:t>
            </a:r>
            <a:r>
              <a:rPr lang="en-US" sz="36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AI-</a:t>
            </a:r>
            <a:r>
              <a:rPr lang="ru-RU" sz="36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конвейер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6193AA-44D7-5B00-157C-BC670DB3E96D}"/>
              </a:ext>
            </a:extLst>
          </p:cNvPr>
          <p:cNvSpPr txBox="1"/>
          <p:nvPr/>
        </p:nvSpPr>
        <p:spPr>
          <a:xfrm>
            <a:off x="1790700" y="2921388"/>
            <a:ext cx="2727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ШАГ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93562-BFB3-F6A6-0DC9-4E97552FA59D}"/>
              </a:ext>
            </a:extLst>
          </p:cNvPr>
          <p:cNvSpPr txBox="1"/>
          <p:nvPr/>
        </p:nvSpPr>
        <p:spPr>
          <a:xfrm>
            <a:off x="6309360" y="2319877"/>
            <a:ext cx="4796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AI-</a:t>
            </a:r>
            <a:r>
              <a:rPr lang="ru-RU" sz="28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анализ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F8D1A-ACB2-493C-97CB-DB75BA142068}"/>
              </a:ext>
            </a:extLst>
          </p:cNvPr>
          <p:cNvSpPr txBox="1"/>
          <p:nvPr/>
        </p:nvSpPr>
        <p:spPr>
          <a:xfrm>
            <a:off x="6309360" y="3429000"/>
            <a:ext cx="4681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Подбор карьерного пути и вакансий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51F73-DAE5-BAD7-9C55-7B64C84BEB7E}"/>
              </a:ext>
            </a:extLst>
          </p:cNvPr>
          <p:cNvSpPr txBox="1"/>
          <p:nvPr/>
        </p:nvSpPr>
        <p:spPr>
          <a:xfrm>
            <a:off x="4431792" y="4435050"/>
            <a:ext cx="2663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Gerbera Medium" panose="02000600000000000000" pitchFamily="50" charset="-52"/>
                <a:ea typeface="Inter Extra Bold" panose="02000903000000020004" pitchFamily="50" charset="0"/>
                <a:cs typeface="Inter Extra Bold" panose="02000903000000020004" pitchFamily="50" charset="0"/>
              </a:rPr>
              <a:t>Курсы для достижения 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753CF1C-5F3B-11BA-522C-EA3DB1E33E70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763768" y="3817673"/>
            <a:ext cx="2136648" cy="617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068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D6C7-ECDE-C970-D9FC-2483F9FB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4C5EAF-5541-CBBC-5EF7-89BCEFA8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71583E-843B-B612-F651-51AC09537A8C}"/>
              </a:ext>
            </a:extLst>
          </p:cNvPr>
          <p:cNvSpPr/>
          <p:nvPr/>
        </p:nvSpPr>
        <p:spPr>
          <a:xfrm>
            <a:off x="0" y="0"/>
            <a:ext cx="6096000" cy="63367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922B8-3BE6-2A89-9BB3-68317BDF8A7C}"/>
              </a:ext>
            </a:extLst>
          </p:cNvPr>
          <p:cNvSpPr txBox="1"/>
          <p:nvPr/>
        </p:nvSpPr>
        <p:spPr>
          <a:xfrm>
            <a:off x="2019490" y="363527"/>
            <a:ext cx="8153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131345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Красиво на л</a:t>
            </a:r>
            <a:r>
              <a:rPr lang="ru-RU" sz="36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юбом экране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B2D7514-0AC8-C13C-23D4-611DFF65C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05" y="1601985"/>
            <a:ext cx="4173041" cy="38569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930863-CFC2-E98B-72A4-90EE6B05BA4E}"/>
              </a:ext>
            </a:extLst>
          </p:cNvPr>
          <p:cNvSpPr txBox="1"/>
          <p:nvPr/>
        </p:nvSpPr>
        <p:spPr>
          <a:xfrm>
            <a:off x="8727948" y="2782669"/>
            <a:ext cx="1691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Здесь будет мобилка</a:t>
            </a:r>
          </a:p>
        </p:txBody>
      </p:sp>
    </p:spTree>
    <p:extLst>
      <p:ext uri="{BB962C8B-B14F-4D97-AF65-F5344CB8AC3E}">
        <p14:creationId xmlns:p14="http://schemas.microsoft.com/office/powerpoint/2010/main" val="3063175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2E95-44DA-1E5D-A1B8-4902BD8E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EC0CB7-4D73-07E3-FEF3-9E54FCD34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D6380C-2B20-61DC-97FB-CD7F70B4BBF1}"/>
              </a:ext>
            </a:extLst>
          </p:cNvPr>
          <p:cNvSpPr txBox="1"/>
          <p:nvPr/>
        </p:nvSpPr>
        <p:spPr>
          <a:xfrm>
            <a:off x="2945892" y="593687"/>
            <a:ext cx="63002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Gerbera Black" panose="02000A00000000000000" pitchFamily="50" charset="-52"/>
                <a:ea typeface="Inter Black" panose="02000A03000000020004" pitchFamily="50" charset="0"/>
                <a:cs typeface="Inter Black" panose="02000A03000000020004" pitchFamily="50" charset="0"/>
              </a:rPr>
              <a:t>Идём на встречу новому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33D4E-966B-8B3A-7031-69F8B08D5FDB}"/>
              </a:ext>
            </a:extLst>
          </p:cNvPr>
          <p:cNvSpPr txBox="1"/>
          <p:nvPr/>
        </p:nvSpPr>
        <p:spPr>
          <a:xfrm>
            <a:off x="3562350" y="2513708"/>
            <a:ext cx="4877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Gerbera Medium" panose="02000600000000000000" pitchFamily="50" charset="-52"/>
              </a:rPr>
              <a:t>В планах создание</a:t>
            </a:r>
          </a:p>
          <a:p>
            <a:pPr algn="ctr"/>
            <a:r>
              <a:rPr lang="ru-RU" sz="2800" dirty="0">
                <a:solidFill>
                  <a:schemeClr val="bg1"/>
                </a:solidFill>
                <a:latin typeface="Gerbera Medium" panose="02000600000000000000" pitchFamily="50" charset="-52"/>
              </a:rPr>
              <a:t>чат-бота в </a:t>
            </a:r>
            <a:r>
              <a:rPr lang="en-US" sz="2800" dirty="0">
                <a:solidFill>
                  <a:schemeClr val="bg1"/>
                </a:solidFill>
                <a:latin typeface="Gerbera Medium" panose="02000600000000000000" pitchFamily="50" charset="-52"/>
              </a:rPr>
              <a:t>MAX</a:t>
            </a:r>
            <a:endParaRPr lang="ru-RU" sz="2800" dirty="0">
              <a:solidFill>
                <a:schemeClr val="bg1"/>
              </a:solidFill>
              <a:latin typeface="Gerbera Medium" panose="02000600000000000000" pitchFamily="5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08493-E4C6-C33A-E6C1-6EDA9878E2D3}"/>
              </a:ext>
            </a:extLst>
          </p:cNvPr>
          <p:cNvSpPr txBox="1"/>
          <p:nvPr/>
        </p:nvSpPr>
        <p:spPr>
          <a:xfrm>
            <a:off x="778764" y="3649069"/>
            <a:ext cx="332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Доступ без ограничений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07EE6-67E1-69CE-1180-78B08584905B}"/>
              </a:ext>
            </a:extLst>
          </p:cNvPr>
          <p:cNvSpPr txBox="1"/>
          <p:nvPr/>
        </p:nvSpPr>
        <p:spPr>
          <a:xfrm>
            <a:off x="5916170" y="3667579"/>
            <a:ext cx="3329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Единое пространство для школьников и студентов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537C4-3BE2-5648-0D5E-84A6DD2383EA}"/>
              </a:ext>
            </a:extLst>
          </p:cNvPr>
          <p:cNvSpPr txBox="1"/>
          <p:nvPr/>
        </p:nvSpPr>
        <p:spPr>
          <a:xfrm>
            <a:off x="2443733" y="4839742"/>
            <a:ext cx="3329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Поддержка развития мессенджера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FA5CD-3138-2E0A-4475-79F75733445E}"/>
              </a:ext>
            </a:extLst>
          </p:cNvPr>
          <p:cNvSpPr txBox="1"/>
          <p:nvPr/>
        </p:nvSpPr>
        <p:spPr>
          <a:xfrm>
            <a:off x="7751066" y="4684180"/>
            <a:ext cx="3329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Medium" panose="02000600000000000000" pitchFamily="50" charset="-52"/>
              </a:rPr>
              <a:t>Интеграция с государственными сервисами поиска работы</a:t>
            </a:r>
          </a:p>
        </p:txBody>
      </p:sp>
    </p:spTree>
    <p:extLst>
      <p:ext uri="{BB962C8B-B14F-4D97-AF65-F5344CB8AC3E}">
        <p14:creationId xmlns:p14="http://schemas.microsoft.com/office/powerpoint/2010/main" val="2290384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7E1064-B845-57D8-7F91-101220528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1982FB-F0AB-8E32-2D3B-693B75FE430C}"/>
              </a:ext>
            </a:extLst>
          </p:cNvPr>
          <p:cNvSpPr txBox="1"/>
          <p:nvPr/>
        </p:nvSpPr>
        <p:spPr>
          <a:xfrm>
            <a:off x="3791712" y="519422"/>
            <a:ext cx="460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Gerbera Black" panose="02000A00000000000000" pitchFamily="50" charset="-52"/>
              </a:rPr>
              <a:t>Будущее проекта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A5FA1-C6CA-3BE9-3C85-333F9FCBC50E}"/>
              </a:ext>
            </a:extLst>
          </p:cNvPr>
          <p:cNvSpPr txBox="1"/>
          <p:nvPr/>
        </p:nvSpPr>
        <p:spPr>
          <a:xfrm>
            <a:off x="978408" y="2811547"/>
            <a:ext cx="4279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Gerbera Medium" panose="02000600000000000000" pitchFamily="50" charset="-52"/>
              </a:rPr>
              <a:t>Самостоятельное развитие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7FEE34-5CD9-9E51-8D46-B3329390C809}"/>
              </a:ext>
            </a:extLst>
          </p:cNvPr>
          <p:cNvSpPr txBox="1"/>
          <p:nvPr/>
        </p:nvSpPr>
        <p:spPr>
          <a:xfrm>
            <a:off x="6934202" y="1578660"/>
            <a:ext cx="4872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Бизнес (рекламные интеграции, платный построение пути (после 5 бесплатных)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09E42-C8FB-754D-EE46-01758E5B537C}"/>
              </a:ext>
            </a:extLst>
          </p:cNvPr>
          <p:cNvSpPr txBox="1"/>
          <p:nvPr/>
        </p:nvSpPr>
        <p:spPr>
          <a:xfrm>
            <a:off x="6934202" y="3478847"/>
            <a:ext cx="4872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Государство (гранты, помощь администрации)</a:t>
            </a:r>
          </a:p>
        </p:txBody>
      </p:sp>
    </p:spTree>
    <p:extLst>
      <p:ext uri="{BB962C8B-B14F-4D97-AF65-F5344CB8AC3E}">
        <p14:creationId xmlns:p14="http://schemas.microsoft.com/office/powerpoint/2010/main" val="3800008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24F2-D70D-5E98-BE35-4EF97414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57CFDF-5804-4902-19C9-46779DD0A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D091E3-4BB4-10D0-9599-7C56C3CD3766}"/>
              </a:ext>
            </a:extLst>
          </p:cNvPr>
          <p:cNvSpPr txBox="1"/>
          <p:nvPr/>
        </p:nvSpPr>
        <p:spPr>
          <a:xfrm>
            <a:off x="3791712" y="519422"/>
            <a:ext cx="460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Gerbera Black" panose="02000A00000000000000" pitchFamily="50" charset="-52"/>
              </a:rPr>
              <a:t>Будущее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77340-09CD-5960-7734-E9DC88DD02F9}"/>
              </a:ext>
            </a:extLst>
          </p:cNvPr>
          <p:cNvSpPr txBox="1"/>
          <p:nvPr/>
        </p:nvSpPr>
        <p:spPr>
          <a:xfrm>
            <a:off x="1231392" y="2828835"/>
            <a:ext cx="442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Gerbera Medium" panose="02000600000000000000" pitchFamily="50" charset="-52"/>
              </a:rPr>
              <a:t>Часть экосистемы МТС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0D4A8-7A17-8C56-1AFE-D811E27F9D97}"/>
              </a:ext>
            </a:extLst>
          </p:cNvPr>
          <p:cNvSpPr txBox="1"/>
          <p:nvPr/>
        </p:nvSpPr>
        <p:spPr>
          <a:xfrm>
            <a:off x="7434072" y="2340864"/>
            <a:ext cx="3209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Поможет находит идеальных кандидатов на позиции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22468-4AEB-5C70-B2B1-2917331513A0}"/>
              </a:ext>
            </a:extLst>
          </p:cNvPr>
          <p:cNvSpPr txBox="1"/>
          <p:nvPr/>
        </p:nvSpPr>
        <p:spPr>
          <a:xfrm>
            <a:off x="7586472" y="3491532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Повысит лояльность к бренду </a:t>
            </a:r>
          </a:p>
        </p:txBody>
      </p:sp>
    </p:spTree>
    <p:extLst>
      <p:ext uri="{BB962C8B-B14F-4D97-AF65-F5344CB8AC3E}">
        <p14:creationId xmlns:p14="http://schemas.microsoft.com/office/powerpoint/2010/main" val="1063608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A3AED5-5E6F-E179-13EF-D2173371A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DF9CA1-61E1-1F23-E6C2-10A1FB57DFDE}"/>
              </a:ext>
            </a:extLst>
          </p:cNvPr>
          <p:cNvSpPr txBox="1"/>
          <p:nvPr/>
        </p:nvSpPr>
        <p:spPr>
          <a:xfrm>
            <a:off x="2438400" y="3244334"/>
            <a:ext cx="221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Black" panose="02000A00000000000000" pitchFamily="50" charset="-52"/>
              </a:rPr>
              <a:t>Тюлькин Данил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F404B-4B4A-A49F-72E7-4F3CC40FAD7C}"/>
              </a:ext>
            </a:extLst>
          </p:cNvPr>
          <p:cNvSpPr txBox="1"/>
          <p:nvPr/>
        </p:nvSpPr>
        <p:spPr>
          <a:xfrm>
            <a:off x="2438400" y="1068169"/>
            <a:ext cx="221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Black" panose="02000A00000000000000" pitchFamily="50" charset="-52"/>
              </a:rPr>
              <a:t>Менеджер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41559-0F97-FB18-FC6C-10D28B7907B2}"/>
              </a:ext>
            </a:extLst>
          </p:cNvPr>
          <p:cNvSpPr txBox="1"/>
          <p:nvPr/>
        </p:nvSpPr>
        <p:spPr>
          <a:xfrm>
            <a:off x="7264908" y="3335774"/>
            <a:ext cx="2709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Black" panose="02000A00000000000000" pitchFamily="50" charset="-52"/>
              </a:rPr>
              <a:t>Ермолова Елизавета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50029-4BE1-0552-86BA-2D6BA2AD046A}"/>
              </a:ext>
            </a:extLst>
          </p:cNvPr>
          <p:cNvSpPr txBox="1"/>
          <p:nvPr/>
        </p:nvSpPr>
        <p:spPr>
          <a:xfrm>
            <a:off x="7513320" y="1068169"/>
            <a:ext cx="221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Black" panose="02000A00000000000000" pitchFamily="50" charset="-52"/>
              </a:rPr>
              <a:t>Дизайнер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803C3-746E-6A03-17F7-5309A7CCEC33}"/>
              </a:ext>
            </a:extLst>
          </p:cNvPr>
          <p:cNvSpPr txBox="1"/>
          <p:nvPr/>
        </p:nvSpPr>
        <p:spPr>
          <a:xfrm>
            <a:off x="2438400" y="5789831"/>
            <a:ext cx="221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Black" panose="02000A00000000000000" pitchFamily="50" charset="-52"/>
              </a:rPr>
              <a:t>Аношин Антон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ACECF4-4464-5631-3806-7A38F0AED7C1}"/>
              </a:ext>
            </a:extLst>
          </p:cNvPr>
          <p:cNvSpPr txBox="1"/>
          <p:nvPr/>
        </p:nvSpPr>
        <p:spPr>
          <a:xfrm>
            <a:off x="2116836" y="3613666"/>
            <a:ext cx="285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erbera Black" panose="02000A00000000000000" pitchFamily="50" charset="-52"/>
              </a:rPr>
              <a:t>Backend-</a:t>
            </a:r>
            <a:r>
              <a:rPr lang="ru-RU" dirty="0">
                <a:solidFill>
                  <a:schemeClr val="bg1"/>
                </a:solidFill>
                <a:latin typeface="Gerbera Black" panose="02000A00000000000000" pitchFamily="50" charset="-52"/>
              </a:rPr>
              <a:t>разработчик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68177-B99B-0A76-B575-CB501115E50D}"/>
              </a:ext>
            </a:extLst>
          </p:cNvPr>
          <p:cNvSpPr txBox="1"/>
          <p:nvPr/>
        </p:nvSpPr>
        <p:spPr>
          <a:xfrm>
            <a:off x="7540754" y="5789831"/>
            <a:ext cx="221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erbera Black" panose="02000A00000000000000" pitchFamily="50" charset="-52"/>
              </a:rPr>
              <a:t>Козлов Денис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C0111E-1BE3-1A07-A67E-3AC548953D24}"/>
              </a:ext>
            </a:extLst>
          </p:cNvPr>
          <p:cNvSpPr txBox="1"/>
          <p:nvPr/>
        </p:nvSpPr>
        <p:spPr>
          <a:xfrm>
            <a:off x="7155183" y="3613666"/>
            <a:ext cx="298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erbera Black" panose="02000A00000000000000" pitchFamily="50" charset="-52"/>
              </a:rPr>
              <a:t>Frontend-</a:t>
            </a:r>
            <a:r>
              <a:rPr lang="ru-RU" dirty="0">
                <a:solidFill>
                  <a:schemeClr val="bg1"/>
                </a:solidFill>
                <a:latin typeface="Gerbera Black" panose="02000A00000000000000" pitchFamily="50" charset="-52"/>
              </a:rPr>
              <a:t>разработчик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E633F2-0C93-393F-0EDA-656F62EB14E0}"/>
              </a:ext>
            </a:extLst>
          </p:cNvPr>
          <p:cNvSpPr txBox="1"/>
          <p:nvPr/>
        </p:nvSpPr>
        <p:spPr>
          <a:xfrm>
            <a:off x="4050792" y="298728"/>
            <a:ext cx="4090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Gerbera Black" panose="02000A00000000000000" pitchFamily="50" charset="-52"/>
              </a:rPr>
              <a:t>Команда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090549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5471C1-661E-2EAB-C985-3FD78EA4D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0E9C24-C1F4-B877-B6E9-2CBADA671B40}"/>
              </a:ext>
            </a:extLst>
          </p:cNvPr>
          <p:cNvSpPr txBox="1"/>
          <p:nvPr/>
        </p:nvSpPr>
        <p:spPr>
          <a:xfrm>
            <a:off x="2676906" y="3105834"/>
            <a:ext cx="6838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Gerbera Black" panose="02000A00000000000000" pitchFamily="50" charset="-52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922200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5B8C9-B46B-660E-0366-DD2DA2362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794" y="0"/>
            <a:ext cx="7292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307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223</Words>
  <Application>Microsoft Office PowerPoint</Application>
  <PresentationFormat>Широкоэкранный</PresentationFormat>
  <Paragraphs>67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Gerbera Black</vt:lpstr>
      <vt:lpstr>Gerbera Light</vt:lpstr>
      <vt:lpstr>Gerbera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 Тюлькин</dc:creator>
  <cp:lastModifiedBy>Данил Тюлькин</cp:lastModifiedBy>
  <cp:revision>6</cp:revision>
  <dcterms:created xsi:type="dcterms:W3CDTF">2026-04-05T03:02:43Z</dcterms:created>
  <dcterms:modified xsi:type="dcterms:W3CDTF">2026-04-05T05:40:15Z</dcterms:modified>
</cp:coreProperties>
</file>